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445752" cy="3657600"/>
          </a:xfrm>
          <a:prstGeom prst="rect">
            <a:avLst/>
          </a:prstGeom>
          <a:noFill/>
        </p:spPr>
        <p:txBody>
          <a:bodyPr wrap="square">
            <a:spAutoFit/>
          </a:bodyPr>
          <a:lstStyle/>
          <a:p>
            <a:pPr algn="ctr">
              <a:spcAft>
                <a:spcPts val="1400"/>
              </a:spcAft>
              <a:defRPr sz="5400" b="1">
                <a:solidFill>
                  <a:srgbClr val="D4AF37"/>
                </a:solidFill>
                <a:latin typeface="Outfit"/>
              </a:defRPr>
            </a:pPr>
            <a:r>
              <a:t>AI Skincare Advisor</a:t>
            </a:r>
          </a:p>
          <a:p>
            <a:pPr algn="ctr">
              <a:spcAft>
                <a:spcPts val="2800"/>
              </a:spcAft>
              <a:defRPr sz="2000" i="1">
                <a:solidFill>
                  <a:srgbClr val="F7F5F0"/>
                </a:solidFill>
                <a:latin typeface="Outfit"/>
              </a:defRPr>
            </a:pPr>
            <a:r>
              <a:t>Personalized Skincare Diagnostics and Recommendations Driven by Computer Vision and Generative AI</a:t>
            </a:r>
          </a:p>
          <a:p>
            <a:pPr algn="ctr">
              <a:defRPr sz="1400">
                <a:solidFill>
                  <a:srgbClr val="646464"/>
                </a:solidFill>
                <a:latin typeface="Outfit"/>
              </a:defRPr>
            </a:pPr>
            <a:r>
              <a:t>Project Overview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274320"/>
          </a:xfrm>
          <a:prstGeom prst="rect">
            <a:avLst/>
          </a:prstGeom>
          <a:noFill/>
        </p:spPr>
        <p:txBody>
          <a:bodyPr wrap="square">
            <a:spAutoFit/>
          </a:bodyPr>
          <a:lstStyle/>
          <a:p>
            <a:pPr>
              <a:defRPr sz="1100" b="1">
                <a:solidFill>
                  <a:srgbClr val="D4AF37"/>
                </a:solidFill>
                <a:latin typeface="Outfit"/>
              </a:defRPr>
            </a:pPr>
            <a:r>
              <a:t>AI SKINCARE ADVISOR</a:t>
            </a:r>
          </a:p>
        </p:txBody>
      </p:sp>
      <p:sp>
        <p:nvSpPr>
          <p:cNvPr id="5" name="TextBox 4"/>
          <p:cNvSpPr txBox="1"/>
          <p:nvPr/>
        </p:nvSpPr>
        <p:spPr>
          <a:xfrm>
            <a:off x="731520" y="640080"/>
            <a:ext cx="10698480" cy="914400"/>
          </a:xfrm>
          <a:prstGeom prst="rect">
            <a:avLst/>
          </a:prstGeom>
          <a:noFill/>
        </p:spPr>
        <p:txBody>
          <a:bodyPr wrap="square">
            <a:spAutoFit/>
          </a:bodyPr>
          <a:lstStyle/>
          <a:p>
            <a:pPr>
              <a:defRPr sz="3600" b="1">
                <a:solidFill>
                  <a:srgbClr val="1E1E1E"/>
                </a:solidFill>
                <a:latin typeface="Outfit"/>
              </a:defRPr>
            </a:pPr>
            <a:r>
              <a:t>Project Overview &amp; Objectives</a:t>
            </a:r>
          </a:p>
        </p:txBody>
      </p:sp>
      <p:sp>
        <p:nvSpPr>
          <p:cNvPr id="6" name="Rounded Rectangle 5"/>
          <p:cNvSpPr/>
          <p:nvPr/>
        </p:nvSpPr>
        <p:spPr>
          <a:xfrm>
            <a:off x="731520" y="1828800"/>
            <a:ext cx="4114800" cy="41148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103120"/>
            <a:ext cx="3566160" cy="3566160"/>
          </a:xfrm>
          <a:prstGeom prst="rect">
            <a:avLst/>
          </a:prstGeom>
          <a:noFill/>
        </p:spPr>
        <p:txBody>
          <a:bodyPr wrap="square">
            <a:spAutoFit/>
          </a:bodyPr>
          <a:lstStyle/>
          <a:p>
            <a:pPr>
              <a:spcAft>
                <a:spcPts val="1400"/>
              </a:spcAft>
              <a:defRPr sz="1400" b="1">
                <a:solidFill>
                  <a:srgbClr val="D4AF37"/>
                </a:solidFill>
                <a:latin typeface="Outfit"/>
              </a:defRPr>
            </a:pPr>
            <a:r>
              <a:t>THE MISSION</a:t>
            </a:r>
          </a:p>
          <a:p>
            <a:pPr>
              <a:lnSpc>
                <a:spcPct val="130000"/>
              </a:lnSpc>
              <a:defRPr sz="1600">
                <a:solidFill>
                  <a:srgbClr val="F7F5F0"/>
                </a:solidFill>
                <a:latin typeface="Outfit"/>
              </a:defRPr>
            </a:pPr>
            <a:r>
              <a:t>Democratizing expert dermatological advice through an accessible, privacy-focused, and intelligent digital assistant. By fusing local computer vision with state-of-the-art generative AI, we deliver actionable skincare insights instantly.</a:t>
            </a:r>
          </a:p>
        </p:txBody>
      </p:sp>
      <p:sp>
        <p:nvSpPr>
          <p:cNvPr id="8" name="TextBox 7"/>
          <p:cNvSpPr txBox="1"/>
          <p:nvPr/>
        </p:nvSpPr>
        <p:spPr>
          <a:xfrm>
            <a:off x="5303520" y="1737360"/>
            <a:ext cx="6126480" cy="4389120"/>
          </a:xfrm>
          <a:prstGeom prst="rect">
            <a:avLst/>
          </a:prstGeom>
          <a:noFill/>
        </p:spPr>
        <p:txBody>
          <a:bodyPr wrap="square">
            <a:spAutoFit/>
          </a:bodyPr>
          <a:lstStyle/>
          <a:p>
            <a:pPr>
              <a:spcAft>
                <a:spcPts val="200"/>
              </a:spcAft>
              <a:defRPr sz="1800" b="1">
                <a:solidFill>
                  <a:srgbClr val="1E1E1E"/>
                </a:solidFill>
                <a:latin typeface="Outfit"/>
              </a:defRPr>
            </a:pPr>
            <a:r>
              <a:t>•  The Skincare Challenge</a:t>
            </a:r>
          </a:p>
          <a:p>
            <a:pPr>
              <a:spcAft>
                <a:spcPts val="400"/>
              </a:spcAft>
              <a:defRPr sz="1400">
                <a:solidFill>
                  <a:srgbClr val="646464"/>
                </a:solidFill>
                <a:latin typeface="Outfit"/>
              </a:defRPr>
            </a:pPr>
            <a:r>
              <a:t>Consumers struggle with identifying skin types and conditions, often wasting resources on incompatible products containing harmful active ingredients.</a:t>
            </a:r>
          </a:p>
          <a:p>
            <a:pPr>
              <a:spcBef>
                <a:spcPts val="1200"/>
              </a:spcBef>
              <a:spcAft>
                <a:spcPts val="200"/>
              </a:spcAft>
              <a:defRPr sz="1800" b="1">
                <a:solidFill>
                  <a:srgbClr val="1E1E1E"/>
                </a:solidFill>
                <a:latin typeface="Outfit"/>
              </a:defRPr>
            </a:pPr>
            <a:r>
              <a:t>•  Hybrid Diagnostic Approach</a:t>
            </a:r>
          </a:p>
          <a:p>
            <a:pPr>
              <a:spcAft>
                <a:spcPts val="400"/>
              </a:spcAft>
              <a:defRPr sz="1400">
                <a:solidFill>
                  <a:srgbClr val="646464"/>
                </a:solidFill>
                <a:latin typeface="Outfit"/>
              </a:defRPr>
            </a:pPr>
            <a:r>
              <a:t>Combines deterministic Computer Vision (OpenCV/MediaPipe) for structural face mapping with probabilistic Generative AI (Gemini) for complex visual and contextual skin analysis.</a:t>
            </a:r>
          </a:p>
          <a:p>
            <a:pPr>
              <a:spcBef>
                <a:spcPts val="1200"/>
              </a:spcBef>
              <a:spcAft>
                <a:spcPts val="200"/>
              </a:spcAft>
              <a:defRPr sz="1800" b="1">
                <a:solidFill>
                  <a:srgbClr val="1E1E1E"/>
                </a:solidFill>
                <a:latin typeface="Outfit"/>
              </a:defRPr>
            </a:pPr>
            <a:r>
              <a:t>•  Data-Driven Personalization</a:t>
            </a:r>
          </a:p>
          <a:p>
            <a:pPr>
              <a:spcAft>
                <a:spcPts val="400"/>
              </a:spcAft>
              <a:defRPr sz="1400">
                <a:solidFill>
                  <a:srgbClr val="646464"/>
                </a:solidFill>
                <a:latin typeface="Outfit"/>
              </a:defRPr>
            </a:pPr>
            <a:r>
              <a:t>Cross-references identified skin concerns with a localized, structured product database to offer objective recommendations based on ingredient compatibility.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274320"/>
          </a:xfrm>
          <a:prstGeom prst="rect">
            <a:avLst/>
          </a:prstGeom>
          <a:noFill/>
        </p:spPr>
        <p:txBody>
          <a:bodyPr wrap="square">
            <a:spAutoFit/>
          </a:bodyPr>
          <a:lstStyle/>
          <a:p>
            <a:pPr>
              <a:defRPr sz="1100" b="1">
                <a:solidFill>
                  <a:srgbClr val="D4AF37"/>
                </a:solidFill>
                <a:latin typeface="Outfit"/>
              </a:defRPr>
            </a:pPr>
            <a:r>
              <a:t>AI SKINCARE ADVISOR</a:t>
            </a:r>
          </a:p>
        </p:txBody>
      </p:sp>
      <p:sp>
        <p:nvSpPr>
          <p:cNvPr id="5" name="TextBox 4"/>
          <p:cNvSpPr txBox="1"/>
          <p:nvPr/>
        </p:nvSpPr>
        <p:spPr>
          <a:xfrm>
            <a:off x="731520" y="640080"/>
            <a:ext cx="10698480" cy="914400"/>
          </a:xfrm>
          <a:prstGeom prst="rect">
            <a:avLst/>
          </a:prstGeom>
          <a:noFill/>
        </p:spPr>
        <p:txBody>
          <a:bodyPr wrap="square">
            <a:spAutoFit/>
          </a:bodyPr>
          <a:lstStyle/>
          <a:p>
            <a:pPr>
              <a:defRPr sz="3600" b="1">
                <a:solidFill>
                  <a:srgbClr val="1E1E1E"/>
                </a:solidFill>
                <a:latin typeface="Outfit"/>
              </a:defRPr>
            </a:pPr>
            <a:r>
              <a:t>Core Features &amp; User Experience</a:t>
            </a:r>
          </a:p>
        </p:txBody>
      </p:sp>
      <p:sp>
        <p:nvSpPr>
          <p:cNvPr id="6" name="Rounded Rectangle 5"/>
          <p:cNvSpPr/>
          <p:nvPr/>
        </p:nvSpPr>
        <p:spPr>
          <a:xfrm>
            <a:off x="731520" y="1828800"/>
            <a:ext cx="3383280" cy="4114800"/>
          </a:xfrm>
          <a:prstGeom prst="roundRect">
            <a:avLst/>
          </a:prstGeom>
          <a:solidFill>
            <a:srgbClr val="FFFFF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3017520" cy="3749039"/>
          </a:xfrm>
          <a:prstGeom prst="rect">
            <a:avLst/>
          </a:prstGeom>
          <a:noFill/>
        </p:spPr>
        <p:txBody>
          <a:bodyPr wrap="square">
            <a:spAutoFit/>
          </a:bodyPr>
          <a:lstStyle/>
          <a:p>
            <a:pPr>
              <a:spcAft>
                <a:spcPts val="1200"/>
              </a:spcAft>
              <a:defRPr sz="2000" b="1">
                <a:solidFill>
                  <a:srgbClr val="1E1E1E"/>
                </a:solidFill>
                <a:latin typeface="Outfit"/>
              </a:defRPr>
            </a:pPr>
            <a:r>
              <a:t>📸 Skin Analysis</a:t>
            </a:r>
          </a:p>
          <a:p>
            <a:pPr>
              <a:lnSpc>
                <a:spcPct val="130000"/>
              </a:lnSpc>
              <a:defRPr sz="1400">
                <a:solidFill>
                  <a:srgbClr val="646464"/>
                </a:solidFill>
                <a:latin typeface="Outfit"/>
              </a:defRPr>
            </a:pPr>
            <a:r>
              <a:t>Extracts real-time features using MediaPipe Face Mesh. Computes facial redness, estimates acne density, and generates an automated skin health score with localized heatmaps.</a:t>
            </a:r>
          </a:p>
        </p:txBody>
      </p:sp>
      <p:sp>
        <p:nvSpPr>
          <p:cNvPr id="8" name="Rounded Rectangle 7"/>
          <p:cNvSpPr/>
          <p:nvPr/>
        </p:nvSpPr>
        <p:spPr>
          <a:xfrm>
            <a:off x="4389120" y="1828800"/>
            <a:ext cx="3383280" cy="4114800"/>
          </a:xfrm>
          <a:prstGeom prst="round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011680"/>
            <a:ext cx="3017520" cy="3749039"/>
          </a:xfrm>
          <a:prstGeom prst="rect">
            <a:avLst/>
          </a:prstGeom>
          <a:noFill/>
        </p:spPr>
        <p:txBody>
          <a:bodyPr wrap="square">
            <a:spAutoFit/>
          </a:bodyPr>
          <a:lstStyle/>
          <a:p>
            <a:pPr>
              <a:spcAft>
                <a:spcPts val="1200"/>
              </a:spcAft>
              <a:defRPr sz="2000" b="1">
                <a:solidFill>
                  <a:srgbClr val="D4AF37"/>
                </a:solidFill>
                <a:latin typeface="Outfit"/>
              </a:defRPr>
            </a:pPr>
            <a:r>
              <a:t>🧴 Recommendations</a:t>
            </a:r>
          </a:p>
          <a:p>
            <a:pPr>
              <a:lnSpc>
                <a:spcPct val="130000"/>
              </a:lnSpc>
              <a:defRPr sz="1400">
                <a:solidFill>
                  <a:srgbClr val="F7F5F0"/>
                </a:solidFill>
                <a:latin typeface="Outfit"/>
              </a:defRPr>
            </a:pPr>
            <a:r>
              <a:t>Searches a custom product catalog of thousands of skincare products. Recommends specific active ingredients (e.g., Niacinamide, Salicylic Acid) based on user's unique profile.</a:t>
            </a:r>
          </a:p>
        </p:txBody>
      </p:sp>
      <p:sp>
        <p:nvSpPr>
          <p:cNvPr id="10" name="Rounded Rectangle 9"/>
          <p:cNvSpPr/>
          <p:nvPr/>
        </p:nvSpPr>
        <p:spPr>
          <a:xfrm>
            <a:off x="8046720" y="1828800"/>
            <a:ext cx="3383280" cy="4114800"/>
          </a:xfrm>
          <a:prstGeom prst="roundRect">
            <a:avLst/>
          </a:prstGeom>
          <a:solidFill>
            <a:srgbClr val="FFFFF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011680"/>
            <a:ext cx="3017520" cy="3749039"/>
          </a:xfrm>
          <a:prstGeom prst="rect">
            <a:avLst/>
          </a:prstGeom>
          <a:noFill/>
        </p:spPr>
        <p:txBody>
          <a:bodyPr wrap="square">
            <a:spAutoFit/>
          </a:bodyPr>
          <a:lstStyle/>
          <a:p>
            <a:pPr>
              <a:spcAft>
                <a:spcPts val="1200"/>
              </a:spcAft>
              <a:defRPr sz="2000" b="1">
                <a:solidFill>
                  <a:srgbClr val="1E1E1E"/>
                </a:solidFill>
                <a:latin typeface="Outfit"/>
              </a:defRPr>
            </a:pPr>
            <a:r>
              <a:t>🌿 Home Remedies</a:t>
            </a:r>
          </a:p>
          <a:p>
            <a:pPr>
              <a:lnSpc>
                <a:spcPct val="130000"/>
              </a:lnSpc>
              <a:defRPr sz="1400">
                <a:solidFill>
                  <a:srgbClr val="646464"/>
                </a:solidFill>
                <a:latin typeface="Outfit"/>
              </a:defRPr>
            </a:pPr>
            <a:r>
              <a:t>Provides natural, safe, and accessible home remedy instructions generated dynamically by Gemini. Tailors application methods and benefits to user's severity levels.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274320"/>
          </a:xfrm>
          <a:prstGeom prst="rect">
            <a:avLst/>
          </a:prstGeom>
          <a:noFill/>
        </p:spPr>
        <p:txBody>
          <a:bodyPr wrap="square">
            <a:spAutoFit/>
          </a:bodyPr>
          <a:lstStyle/>
          <a:p>
            <a:pPr>
              <a:defRPr sz="1100" b="1">
                <a:solidFill>
                  <a:srgbClr val="D4AF37"/>
                </a:solidFill>
                <a:latin typeface="Outfit"/>
              </a:defRPr>
            </a:pPr>
            <a:r>
              <a:t>AI SKINCARE ADVISOR</a:t>
            </a:r>
          </a:p>
        </p:txBody>
      </p:sp>
      <p:sp>
        <p:nvSpPr>
          <p:cNvPr id="5" name="TextBox 4"/>
          <p:cNvSpPr txBox="1"/>
          <p:nvPr/>
        </p:nvSpPr>
        <p:spPr>
          <a:xfrm>
            <a:off x="731520" y="640080"/>
            <a:ext cx="10698480" cy="914400"/>
          </a:xfrm>
          <a:prstGeom prst="rect">
            <a:avLst/>
          </a:prstGeom>
          <a:noFill/>
        </p:spPr>
        <p:txBody>
          <a:bodyPr wrap="square">
            <a:spAutoFit/>
          </a:bodyPr>
          <a:lstStyle/>
          <a:p>
            <a:pPr>
              <a:defRPr sz="3600" b="1">
                <a:solidFill>
                  <a:srgbClr val="1E1E1E"/>
                </a:solidFill>
                <a:latin typeface="Outfit"/>
              </a:defRPr>
            </a:pPr>
            <a:r>
              <a:t>System Architecture &amp; Data Flow</a:t>
            </a:r>
          </a:p>
        </p:txBody>
      </p:sp>
      <p:sp>
        <p:nvSpPr>
          <p:cNvPr id="6" name="TextBox 5"/>
          <p:cNvSpPr txBox="1"/>
          <p:nvPr/>
        </p:nvSpPr>
        <p:spPr>
          <a:xfrm>
            <a:off x="731520" y="1828800"/>
            <a:ext cx="4389120" cy="4114800"/>
          </a:xfrm>
          <a:prstGeom prst="rect">
            <a:avLst/>
          </a:prstGeom>
          <a:noFill/>
        </p:spPr>
        <p:txBody>
          <a:bodyPr wrap="square">
            <a:spAutoFit/>
          </a:bodyPr>
          <a:lstStyle/>
          <a:p>
            <a:pPr>
              <a:spcAft>
                <a:spcPts val="1400"/>
              </a:spcAft>
              <a:defRPr sz="2200" b="1">
                <a:solidFill>
                  <a:srgbClr val="1E1E1E"/>
                </a:solidFill>
                <a:latin typeface="Outfit"/>
              </a:defRPr>
            </a:pPr>
            <a:r>
              <a:t>Multi-Layered Architecture</a:t>
            </a:r>
          </a:p>
          <a:p>
            <a:pPr>
              <a:lnSpc>
                <a:spcPct val="130000"/>
              </a:lnSpc>
              <a:defRPr sz="1400">
                <a:solidFill>
                  <a:srgbClr val="646464"/>
                </a:solidFill>
                <a:latin typeface="Outfit"/>
              </a:defRPr>
            </a:pPr>
            <a:r>
              <a:t>The application splits workload between local computation and remote models to optimize response times and privacy. Local Computer Vision handles immediate geometry and metrics, while LLM services perform deep semantic diagnostics.</a:t>
            </a:r>
            <a:br/>
            <a:br/>
            <a:r>
              <a:t>Custom caching ensures that repeated lookups in the product database do not degrade responsiveness.</a:t>
            </a:r>
          </a:p>
        </p:txBody>
      </p:sp>
      <p:sp>
        <p:nvSpPr>
          <p:cNvPr id="7" name="Rectangle 6"/>
          <p:cNvSpPr/>
          <p:nvPr/>
        </p:nvSpPr>
        <p:spPr>
          <a:xfrm>
            <a:off x="5486400" y="1828800"/>
            <a:ext cx="5943600" cy="1188720"/>
          </a:xfrm>
          <a:prstGeom prst="rect">
            <a:avLst/>
          </a:prstGeom>
          <a:solidFill>
            <a:srgbClr val="FFFFF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77840" y="1874520"/>
            <a:ext cx="5760720" cy="1097280"/>
          </a:xfrm>
          <a:prstGeom prst="rect">
            <a:avLst/>
          </a:prstGeom>
          <a:noFill/>
        </p:spPr>
        <p:txBody>
          <a:bodyPr wrap="square">
            <a:spAutoFit/>
          </a:bodyPr>
          <a:lstStyle/>
          <a:p>
            <a:pPr>
              <a:spcAft>
                <a:spcPts val="200"/>
              </a:spcAft>
              <a:defRPr sz="1500" b="1">
                <a:solidFill>
                  <a:srgbClr val="1E1E1E"/>
                </a:solidFill>
                <a:latin typeface="Outfit"/>
              </a:defRPr>
            </a:pPr>
            <a:r>
              <a:t>1. Presentation Layer (Streamlit Dashboard)</a:t>
            </a:r>
          </a:p>
          <a:p>
            <a:pPr>
              <a:defRPr sz="1100">
                <a:solidFill>
                  <a:srgbClr val="646464"/>
                </a:solidFill>
                <a:latin typeface="Outfit"/>
              </a:defRPr>
            </a:pPr>
            <a:r>
              <a:t>Features a dark gold glassmorphic user interface with interactive camera inputs, image uploads, and dynamic visualization widgets.</a:t>
            </a:r>
          </a:p>
        </p:txBody>
      </p:sp>
      <p:sp>
        <p:nvSpPr>
          <p:cNvPr id="9" name="Rectangle 8"/>
          <p:cNvSpPr/>
          <p:nvPr/>
        </p:nvSpPr>
        <p:spPr>
          <a:xfrm>
            <a:off x="5486400" y="3200400"/>
            <a:ext cx="5943600" cy="1188720"/>
          </a:xfrm>
          <a:prstGeom prst="rect">
            <a:avLst/>
          </a:prstGeom>
          <a:solidFill>
            <a:srgbClr val="FFFFF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577840" y="3246120"/>
            <a:ext cx="5760720" cy="1097280"/>
          </a:xfrm>
          <a:prstGeom prst="rect">
            <a:avLst/>
          </a:prstGeom>
          <a:noFill/>
        </p:spPr>
        <p:txBody>
          <a:bodyPr wrap="square">
            <a:spAutoFit/>
          </a:bodyPr>
          <a:lstStyle/>
          <a:p>
            <a:pPr>
              <a:spcAft>
                <a:spcPts val="200"/>
              </a:spcAft>
              <a:defRPr sz="1500" b="1">
                <a:solidFill>
                  <a:srgbClr val="1E1E1E"/>
                </a:solidFill>
                <a:latin typeface="Outfit"/>
              </a:defRPr>
            </a:pPr>
            <a:r>
              <a:t>2. Analysis Engine (CV &amp; LLM Hybrid)</a:t>
            </a:r>
          </a:p>
          <a:p>
            <a:pPr>
              <a:defRPr sz="1100">
                <a:solidFill>
                  <a:srgbClr val="646464"/>
                </a:solidFill>
                <a:latin typeface="Outfit"/>
              </a:defRPr>
            </a:pPr>
            <a:r>
              <a:t>Local OpenCV/MediaPipe calculates redness/acne density and face mesh connections. Remote Gemini 2.5 Flash analyzes complex image context.</a:t>
            </a:r>
          </a:p>
        </p:txBody>
      </p:sp>
      <p:sp>
        <p:nvSpPr>
          <p:cNvPr id="11" name="Rectangle 10"/>
          <p:cNvSpPr/>
          <p:nvPr/>
        </p:nvSpPr>
        <p:spPr>
          <a:xfrm>
            <a:off x="5486400" y="4572000"/>
            <a:ext cx="5943600" cy="1188720"/>
          </a:xfrm>
          <a:prstGeom prst="rect">
            <a:avLst/>
          </a:prstGeom>
          <a:solidFill>
            <a:srgbClr val="FFFFF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4617720"/>
            <a:ext cx="5760720" cy="1097280"/>
          </a:xfrm>
          <a:prstGeom prst="rect">
            <a:avLst/>
          </a:prstGeom>
          <a:noFill/>
        </p:spPr>
        <p:txBody>
          <a:bodyPr wrap="square">
            <a:spAutoFit/>
          </a:bodyPr>
          <a:lstStyle/>
          <a:p>
            <a:pPr>
              <a:spcAft>
                <a:spcPts val="200"/>
              </a:spcAft>
              <a:defRPr sz="1500" b="1">
                <a:solidFill>
                  <a:srgbClr val="1E1E1E"/>
                </a:solidFill>
                <a:latin typeface="Outfit"/>
              </a:defRPr>
            </a:pPr>
            <a:r>
              <a:t>3. Product Database Layer (Pandas Queries)</a:t>
            </a:r>
          </a:p>
          <a:p>
            <a:pPr>
              <a:defRPr sz="1100">
                <a:solidFill>
                  <a:srgbClr val="646464"/>
                </a:solidFill>
                <a:latin typeface="Outfit"/>
              </a:defRPr>
            </a:pPr>
            <a:r>
              <a:t>Loads and indexes 40MB+ of curated products. Performs custom text-matching searches over ingredient lists and usage types with relevance thresholds.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7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274320"/>
          </a:xfrm>
          <a:prstGeom prst="rect">
            <a:avLst/>
          </a:prstGeom>
          <a:noFill/>
        </p:spPr>
        <p:txBody>
          <a:bodyPr wrap="square">
            <a:spAutoFit/>
          </a:bodyPr>
          <a:lstStyle/>
          <a:p>
            <a:pPr>
              <a:defRPr sz="1100" b="1">
                <a:solidFill>
                  <a:srgbClr val="D4AF37"/>
                </a:solidFill>
                <a:latin typeface="Outfit"/>
              </a:defRPr>
            </a:pPr>
            <a:r>
              <a:t>AI SKINCARE ADVISOR</a:t>
            </a:r>
          </a:p>
        </p:txBody>
      </p:sp>
      <p:sp>
        <p:nvSpPr>
          <p:cNvPr id="5" name="TextBox 4"/>
          <p:cNvSpPr txBox="1"/>
          <p:nvPr/>
        </p:nvSpPr>
        <p:spPr>
          <a:xfrm>
            <a:off x="731520" y="640080"/>
            <a:ext cx="10698480" cy="914400"/>
          </a:xfrm>
          <a:prstGeom prst="rect">
            <a:avLst/>
          </a:prstGeom>
          <a:noFill/>
        </p:spPr>
        <p:txBody>
          <a:bodyPr wrap="square">
            <a:spAutoFit/>
          </a:bodyPr>
          <a:lstStyle/>
          <a:p>
            <a:pPr>
              <a:defRPr sz="3600" b="1">
                <a:solidFill>
                  <a:srgbClr val="1E1E1E"/>
                </a:solidFill>
                <a:latin typeface="Outfit"/>
              </a:defRPr>
            </a:pPr>
            <a:r>
              <a:t>Technology Stack &amp; APIs</a:t>
            </a:r>
          </a:p>
        </p:txBody>
      </p:sp>
      <p:sp>
        <p:nvSpPr>
          <p:cNvPr id="6" name="Rounded Rectangle 5"/>
          <p:cNvSpPr/>
          <p:nvPr/>
        </p:nvSpPr>
        <p:spPr>
          <a:xfrm>
            <a:off x="731520" y="1828800"/>
            <a:ext cx="5120640" cy="1828800"/>
          </a:xfrm>
          <a:prstGeom prst="roundRect">
            <a:avLst/>
          </a:prstGeom>
          <a:solidFill>
            <a:srgbClr val="FFFFF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4754880" cy="1645920"/>
          </a:xfrm>
          <a:prstGeom prst="rect">
            <a:avLst/>
          </a:prstGeom>
          <a:noFill/>
        </p:spPr>
        <p:txBody>
          <a:bodyPr wrap="square">
            <a:spAutoFit/>
          </a:bodyPr>
          <a:lstStyle/>
          <a:p>
            <a:pPr>
              <a:spcAft>
                <a:spcPts val="200"/>
              </a:spcAft>
              <a:defRPr sz="1800" b="1">
                <a:solidFill>
                  <a:srgbClr val="1E1E1E"/>
                </a:solidFill>
                <a:latin typeface="Outfit"/>
              </a:defRPr>
            </a:pPr>
            <a:r>
              <a:t>Streamlit</a:t>
            </a:r>
          </a:p>
          <a:p>
            <a:pPr>
              <a:spcAft>
                <a:spcPts val="800"/>
              </a:spcAft>
              <a:defRPr sz="1000" b="1">
                <a:solidFill>
                  <a:srgbClr val="D4AF37"/>
                </a:solidFill>
                <a:latin typeface="Outfit"/>
              </a:defRPr>
            </a:pPr>
            <a:r>
              <a:t>WEB INTERFACE &amp; STATE</a:t>
            </a:r>
          </a:p>
          <a:p>
            <a:pPr>
              <a:lnSpc>
                <a:spcPct val="120000"/>
              </a:lnSpc>
              <a:defRPr sz="1200">
                <a:solidFill>
                  <a:srgbClr val="646464"/>
                </a:solidFill>
                <a:latin typeface="Outfit"/>
              </a:defRPr>
            </a:pPr>
            <a:r>
              <a:t>Powers the user interface, routing, styling, state management, and file upload systems with zero-latency re-renders.</a:t>
            </a:r>
          </a:p>
        </p:txBody>
      </p:sp>
      <p:sp>
        <p:nvSpPr>
          <p:cNvPr id="8" name="Rounded Rectangle 7"/>
          <p:cNvSpPr/>
          <p:nvPr/>
        </p:nvSpPr>
        <p:spPr>
          <a:xfrm>
            <a:off x="6309359" y="1828800"/>
            <a:ext cx="5120640" cy="1828800"/>
          </a:xfrm>
          <a:prstGeom prst="roundRect">
            <a:avLst/>
          </a:prstGeom>
          <a:solidFill>
            <a:srgbClr val="FFFFF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39" y="1920240"/>
            <a:ext cx="4754880" cy="1645920"/>
          </a:xfrm>
          <a:prstGeom prst="rect">
            <a:avLst/>
          </a:prstGeom>
          <a:noFill/>
        </p:spPr>
        <p:txBody>
          <a:bodyPr wrap="square">
            <a:spAutoFit/>
          </a:bodyPr>
          <a:lstStyle/>
          <a:p>
            <a:pPr>
              <a:spcAft>
                <a:spcPts val="200"/>
              </a:spcAft>
              <a:defRPr sz="1800" b="1">
                <a:solidFill>
                  <a:srgbClr val="1E1E1E"/>
                </a:solidFill>
                <a:latin typeface="Outfit"/>
              </a:defRPr>
            </a:pPr>
            <a:r>
              <a:t>OpenCV &amp; MediaPipe</a:t>
            </a:r>
          </a:p>
          <a:p>
            <a:pPr>
              <a:spcAft>
                <a:spcPts val="800"/>
              </a:spcAft>
              <a:defRPr sz="1000" b="1">
                <a:solidFill>
                  <a:srgbClr val="D4AF37"/>
                </a:solidFill>
                <a:latin typeface="Outfit"/>
              </a:defRPr>
            </a:pPr>
            <a:r>
              <a:t>COMPUTER VISION ANALYSIS</a:t>
            </a:r>
          </a:p>
          <a:p>
            <a:pPr>
              <a:lnSpc>
                <a:spcPct val="120000"/>
              </a:lnSpc>
              <a:defRPr sz="1200">
                <a:solidFill>
                  <a:srgbClr val="646464"/>
                </a:solidFill>
                <a:latin typeface="Outfit"/>
              </a:defRPr>
            </a:pPr>
            <a:r>
              <a:t>Performs real-time face detection, mesh landmark extraction, redness scoring, and color-mapped visual heatmaps.</a:t>
            </a:r>
          </a:p>
        </p:txBody>
      </p:sp>
      <p:sp>
        <p:nvSpPr>
          <p:cNvPr id="10" name="Rounded Rectangle 9"/>
          <p:cNvSpPr/>
          <p:nvPr/>
        </p:nvSpPr>
        <p:spPr>
          <a:xfrm>
            <a:off x="731520" y="3931920"/>
            <a:ext cx="5120640" cy="1828800"/>
          </a:xfrm>
          <a:prstGeom prst="roundRect">
            <a:avLst/>
          </a:prstGeom>
          <a:solidFill>
            <a:srgbClr val="FFFFF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023360"/>
            <a:ext cx="4754880" cy="1645920"/>
          </a:xfrm>
          <a:prstGeom prst="rect">
            <a:avLst/>
          </a:prstGeom>
          <a:noFill/>
        </p:spPr>
        <p:txBody>
          <a:bodyPr wrap="square">
            <a:spAutoFit/>
          </a:bodyPr>
          <a:lstStyle/>
          <a:p>
            <a:pPr>
              <a:spcAft>
                <a:spcPts val="200"/>
              </a:spcAft>
              <a:defRPr sz="1800" b="1">
                <a:solidFill>
                  <a:srgbClr val="1E1E1E"/>
                </a:solidFill>
                <a:latin typeface="Outfit"/>
              </a:defRPr>
            </a:pPr>
            <a:r>
              <a:t>Gemini 2.5 Flash</a:t>
            </a:r>
          </a:p>
          <a:p>
            <a:pPr>
              <a:spcAft>
                <a:spcPts val="800"/>
              </a:spcAft>
              <a:defRPr sz="1000" b="1">
                <a:solidFill>
                  <a:srgbClr val="D4AF37"/>
                </a:solidFill>
                <a:latin typeface="Outfit"/>
              </a:defRPr>
            </a:pPr>
            <a:r>
              <a:t>GENERATIVE AI IMAGE ANALYSIS</a:t>
            </a:r>
          </a:p>
          <a:p>
            <a:pPr>
              <a:lnSpc>
                <a:spcPct val="120000"/>
              </a:lnSpc>
              <a:defRPr sz="1200">
                <a:solidFill>
                  <a:srgbClr val="646464"/>
                </a:solidFill>
                <a:latin typeface="Outfit"/>
              </a:defRPr>
            </a:pPr>
            <a:r>
              <a:t>Conducts semantic visual analysis, detects skin type, severity of concerns, recommends ingredients, and provides dermatologist advice.</a:t>
            </a:r>
          </a:p>
        </p:txBody>
      </p:sp>
      <p:sp>
        <p:nvSpPr>
          <p:cNvPr id="12" name="Rounded Rectangle 11"/>
          <p:cNvSpPr/>
          <p:nvPr/>
        </p:nvSpPr>
        <p:spPr>
          <a:xfrm>
            <a:off x="6309359" y="3931920"/>
            <a:ext cx="5120640" cy="1828800"/>
          </a:xfrm>
          <a:prstGeom prst="roundRect">
            <a:avLst/>
          </a:prstGeom>
          <a:solidFill>
            <a:srgbClr val="FFFFFF"/>
          </a:solidFill>
          <a:ln w="12700">
            <a:solidFill>
              <a:srgbClr val="D4A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39" y="4023360"/>
            <a:ext cx="4754880" cy="1645920"/>
          </a:xfrm>
          <a:prstGeom prst="rect">
            <a:avLst/>
          </a:prstGeom>
          <a:noFill/>
        </p:spPr>
        <p:txBody>
          <a:bodyPr wrap="square">
            <a:spAutoFit/>
          </a:bodyPr>
          <a:lstStyle/>
          <a:p>
            <a:pPr>
              <a:spcAft>
                <a:spcPts val="200"/>
              </a:spcAft>
              <a:defRPr sz="1800" b="1">
                <a:solidFill>
                  <a:srgbClr val="1E1E1E"/>
                </a:solidFill>
                <a:latin typeface="Outfit"/>
              </a:defRPr>
            </a:pPr>
            <a:r>
              <a:t>Pandas &amp; Custom Regex</a:t>
            </a:r>
          </a:p>
          <a:p>
            <a:pPr>
              <a:spcAft>
                <a:spcPts val="800"/>
              </a:spcAft>
              <a:defRPr sz="1000" b="1">
                <a:solidFill>
                  <a:srgbClr val="D4AF37"/>
                </a:solidFill>
                <a:latin typeface="Outfit"/>
              </a:defRPr>
            </a:pPr>
            <a:r>
              <a:t>PRODUCT DATABASE &amp; SEARCH</a:t>
            </a:r>
          </a:p>
          <a:p>
            <a:pPr>
              <a:lnSpc>
                <a:spcPct val="120000"/>
              </a:lnSpc>
              <a:defRPr sz="1200">
                <a:solidFill>
                  <a:srgbClr val="646464"/>
                </a:solidFill>
                <a:latin typeface="Outfit"/>
              </a:defRPr>
            </a:pPr>
            <a:r>
              <a:t>Filters, clean-matches, and queries thousands of skincare records in a 40MB database by ingredient keywords and skin types.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D4A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10332720" cy="731520"/>
          </a:xfrm>
          <a:prstGeom prst="rect">
            <a:avLst/>
          </a:prstGeom>
          <a:noFill/>
        </p:spPr>
        <p:txBody>
          <a:bodyPr wrap="none">
            <a:spAutoFit/>
          </a:bodyPr>
          <a:lstStyle/>
          <a:p>
            <a:pPr>
              <a:defRPr sz="3600" b="1">
                <a:solidFill>
                  <a:srgbClr val="D4AF37"/>
                </a:solidFill>
                <a:latin typeface="Outfit"/>
              </a:defRPr>
            </a:pPr>
            <a:r>
              <a:t>Summary &amp; Future Roadmap</a:t>
            </a:r>
          </a:p>
        </p:txBody>
      </p:sp>
      <p:sp>
        <p:nvSpPr>
          <p:cNvPr id="5" name="TextBox 4"/>
          <p:cNvSpPr txBox="1"/>
          <p:nvPr/>
        </p:nvSpPr>
        <p:spPr>
          <a:xfrm>
            <a:off x="914400" y="1645920"/>
            <a:ext cx="10332720" cy="4572000"/>
          </a:xfrm>
          <a:prstGeom prst="rect">
            <a:avLst/>
          </a:prstGeom>
          <a:noFill/>
        </p:spPr>
        <p:txBody>
          <a:bodyPr wrap="square">
            <a:spAutoFit/>
          </a:bodyPr>
          <a:lstStyle/>
          <a:p>
            <a:pPr>
              <a:spcAft>
                <a:spcPts val="200"/>
              </a:spcAft>
              <a:defRPr sz="1600" b="1">
                <a:solidFill>
                  <a:srgbClr val="D4AF37"/>
                </a:solidFill>
                <a:latin typeface="Outfit"/>
              </a:defRPr>
            </a:pPr>
            <a:r>
              <a:t>•  Project Summary</a:t>
            </a:r>
          </a:p>
          <a:p>
            <a:pPr>
              <a:spcAft>
                <a:spcPts val="400"/>
              </a:spcAft>
              <a:defRPr sz="1300">
                <a:solidFill>
                  <a:srgbClr val="F7F5F0"/>
                </a:solidFill>
                <a:latin typeface="Outfit"/>
              </a:defRPr>
            </a:pPr>
            <a:r>
              <a:t>AI Skincare Advisor successfully implements a dual computer-vision and LLM analysis dashboard to perform structural and semantic analysis, bridging the gap between raw data and dermatologist advice.</a:t>
            </a:r>
          </a:p>
          <a:p>
            <a:pPr>
              <a:spcBef>
                <a:spcPts val="1000"/>
              </a:spcBef>
              <a:spcAft>
                <a:spcPts val="200"/>
              </a:spcAft>
              <a:defRPr sz="1600" b="1">
                <a:solidFill>
                  <a:srgbClr val="D4AF37"/>
                </a:solidFill>
                <a:latin typeface="Outfit"/>
              </a:defRPr>
            </a:pPr>
            <a:r>
              <a:t>•  Routine Personalization &amp; Tracking</a:t>
            </a:r>
          </a:p>
          <a:p>
            <a:pPr>
              <a:spcAft>
                <a:spcPts val="400"/>
              </a:spcAft>
              <a:defRPr sz="1300">
                <a:solidFill>
                  <a:srgbClr val="F7F5F0"/>
                </a:solidFill>
                <a:latin typeface="Outfit"/>
              </a:defRPr>
            </a:pPr>
            <a:r>
              <a:t>Future releases will integrate user-profile saving and routine tracking over time to visually display changes in redness and acne scores using graphs.</a:t>
            </a:r>
          </a:p>
          <a:p>
            <a:pPr>
              <a:spcBef>
                <a:spcPts val="1000"/>
              </a:spcBef>
              <a:spcAft>
                <a:spcPts val="200"/>
              </a:spcAft>
              <a:defRPr sz="1600" b="1">
                <a:solidFill>
                  <a:srgbClr val="D4AF37"/>
                </a:solidFill>
                <a:latin typeface="Outfit"/>
              </a:defRPr>
            </a:pPr>
            <a:r>
              <a:t>•  Clinical Validations &amp; Expert Integrations</a:t>
            </a:r>
          </a:p>
          <a:p>
            <a:pPr>
              <a:spcAft>
                <a:spcPts val="400"/>
              </a:spcAft>
              <a:defRPr sz="1300">
                <a:solidFill>
                  <a:srgbClr val="F7F5F0"/>
                </a:solidFill>
                <a:latin typeface="Outfit"/>
              </a:defRPr>
            </a:pPr>
            <a:r>
              <a:t>Introduce confidence levels, direct links to skin doctors, and diagnostic reports to elevate the app into a fully validated clinical-support tool.</a:t>
            </a:r>
          </a:p>
          <a:p>
            <a:pPr>
              <a:spcBef>
                <a:spcPts val="1000"/>
              </a:spcBef>
              <a:spcAft>
                <a:spcPts val="200"/>
              </a:spcAft>
              <a:defRPr sz="1600" b="1">
                <a:solidFill>
                  <a:srgbClr val="D4AF37"/>
                </a:solidFill>
                <a:latin typeface="Outfit"/>
              </a:defRPr>
            </a:pPr>
            <a:r>
              <a:t>•  E-Commerce Integrations</a:t>
            </a:r>
          </a:p>
          <a:p>
            <a:pPr>
              <a:spcAft>
                <a:spcPts val="400"/>
              </a:spcAft>
              <a:defRPr sz="1300">
                <a:solidFill>
                  <a:srgbClr val="F7F5F0"/>
                </a:solidFill>
                <a:latin typeface="Outfit"/>
              </a:defRPr>
            </a:pPr>
            <a:r>
              <a:t>Partner with major skincare platforms to enable direct-to-cart purchasing of recommended products directly from the advisor dashboard.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